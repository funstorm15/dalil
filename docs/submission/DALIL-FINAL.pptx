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cefdb024bd4127" /><Relationship Type="http://schemas.openxmlformats.org/officeDocument/2006/relationships/extended-properties" Target="/docProps/app.xml" Id="R7cb5d68154b54fb4" /><Relationship Type="http://schemas.openxmlformats.org/officeDocument/2006/relationships/officeDocument" Target="/ppt/presentation.xml" Id="Racab49cfbdc244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f2412b27f944c7"/>
  </p:sldMasterIdLst>
  <p:notesMasterIdLst>
    <p:notesMasterId xmlns:r="http://schemas.openxmlformats.org/officeDocument/2006/relationships" r:id="R58d4c73a09424352"/>
  </p:notesMasterIdLst>
  <p:sldIdLst>
    <p:sldId xmlns:r="http://schemas.openxmlformats.org/officeDocument/2006/relationships" id="256" r:id="Ra31d526f83974dc7"/>
    <p:sldId xmlns:r="http://schemas.openxmlformats.org/officeDocument/2006/relationships" id="257" r:id="R648f35f437bd42e6"/>
    <p:sldId xmlns:r="http://schemas.openxmlformats.org/officeDocument/2006/relationships" id="258" r:id="R1c37968ce36a49ef"/>
    <p:sldId xmlns:r="http://schemas.openxmlformats.org/officeDocument/2006/relationships" id="259" r:id="R5a5237676ad84d2c"/>
    <p:sldId xmlns:r="http://schemas.openxmlformats.org/officeDocument/2006/relationships" id="260" r:id="R57a640f99d6b48e9"/>
    <p:sldId xmlns:r="http://schemas.openxmlformats.org/officeDocument/2006/relationships" id="261" r:id="R66c21188146743dc"/>
    <p:sldId xmlns:r="http://schemas.openxmlformats.org/officeDocument/2006/relationships" id="262" r:id="Rc5493b23ccbe4e0c"/>
    <p:sldId xmlns:r="http://schemas.openxmlformats.org/officeDocument/2006/relationships" id="263" r:id="Ra2ac3a12339d4c9d"/>
    <p:sldId xmlns:r="http://schemas.openxmlformats.org/officeDocument/2006/relationships" id="264" r:id="R5b80c68eb09b475d"/>
    <p:sldId xmlns:r="http://schemas.openxmlformats.org/officeDocument/2006/relationships" id="265" r:id="Rb65ca7e872304886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5b76fc4ee84902" /><Relationship Type="http://schemas.openxmlformats.org/officeDocument/2006/relationships/slideMaster" Target="/ppt/slideMasters/slideMaster1.xml" Id="R3ef2412b27f944c7" /><Relationship Type="http://schemas.openxmlformats.org/officeDocument/2006/relationships/notesMaster" Target="/ppt/notesMasters/notesMaster1.xml" Id="R58d4c73a09424352" /><Relationship Type="http://schemas.openxmlformats.org/officeDocument/2006/relationships/presProps" Target="/ppt/presProps.xml" Id="Re2f8c47f44c342de" /><Relationship Type="http://schemas.openxmlformats.org/officeDocument/2006/relationships/viewProps" Target="/ppt/viewProps.xml" Id="R65e4044cda7c40ad" /><Relationship Type="http://schemas.openxmlformats.org/officeDocument/2006/relationships/tableStyles" Target="/ppt/tableStyles.xml" Id="R074ce032f84d4340" /><Relationship Type="http://schemas.openxmlformats.org/officeDocument/2006/relationships/slide" Target="/ppt/slides/slide1.xml" Id="Ra31d526f83974dc7" /><Relationship Type="http://schemas.openxmlformats.org/officeDocument/2006/relationships/slide" Target="/ppt/slides/slide2.xml" Id="R648f35f437bd42e6" /><Relationship Type="http://schemas.openxmlformats.org/officeDocument/2006/relationships/slide" Target="/ppt/slides/slide3.xml" Id="R1c37968ce36a49ef" /><Relationship Type="http://schemas.openxmlformats.org/officeDocument/2006/relationships/slide" Target="/ppt/slides/slide4.xml" Id="R5a5237676ad84d2c" /><Relationship Type="http://schemas.openxmlformats.org/officeDocument/2006/relationships/slide" Target="/ppt/slides/slide5.xml" Id="R57a640f99d6b48e9" /><Relationship Type="http://schemas.openxmlformats.org/officeDocument/2006/relationships/slide" Target="/ppt/slides/slide6.xml" Id="R66c21188146743dc" /><Relationship Type="http://schemas.openxmlformats.org/officeDocument/2006/relationships/slide" Target="/ppt/slides/slide7.xml" Id="Rc5493b23ccbe4e0c" /><Relationship Type="http://schemas.openxmlformats.org/officeDocument/2006/relationships/slide" Target="/ppt/slides/slide8.xml" Id="Ra2ac3a12339d4c9d" /><Relationship Type="http://schemas.openxmlformats.org/officeDocument/2006/relationships/slide" Target="/ppt/slides/slide9.xml" Id="R5b80c68eb09b475d" /><Relationship Type="http://schemas.openxmlformats.org/officeDocument/2006/relationships/slide" Target="/ppt/slides/slide10.xml" Id="Rb65ca7e8723048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8a43db243a4f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ALIL navy">
  <a:themeElements>
    <a:clrScheme name="DALIL navy">
      <a:dk1>
        <a:srgbClr val="1E2761"/>
      </a:dk1>
      <a:lt1>
        <a:srgbClr val="FFFFFF"/>
      </a:lt1>
      <a:dk2>
        <a:srgbClr val="3D4A66"/>
      </a:dk2>
      <a:lt2>
        <a:srgbClr val="F2F6FC"/>
      </a:lt2>
      <a:accent1>
        <a:srgbClr val="1E2761"/>
      </a:accent1>
      <a:accent2>
        <a:srgbClr val="F2994A"/>
      </a:accent2>
      <a:accent3>
        <a:srgbClr val="1FA97A"/>
      </a:accent3>
      <a:accent4>
        <a:srgbClr val="E8A33D"/>
      </a:accent4>
      <a:accent5>
        <a:srgbClr val="CADCFC"/>
      </a:accent5>
      <a:accent6>
        <a:srgbClr val="8A96B8"/>
      </a:accent6>
      <a:hlink>
        <a:srgbClr val="2F6FDB"/>
      </a:hlink>
      <a:folHlink>
        <a:srgbClr val="6B7BA8"/>
      </a:folHlink>
    </a:clrScheme>
    <a:fontScheme name="DALI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ALIL nav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82ba3c01924ba3" /><Relationship Type="http://schemas.openxmlformats.org/officeDocument/2006/relationships/notesMaster" Target="/ppt/notesMasters/notesMaster1.xml" Id="R9da6349b416e44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780b26c7744e67" /><Relationship Type="http://schemas.openxmlformats.org/officeDocument/2006/relationships/notesMaster" Target="/ppt/notesMasters/notesMaster1.xml" Id="R31fc5d07fb7144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42affbac6e4a2c" /><Relationship Type="http://schemas.openxmlformats.org/officeDocument/2006/relationships/notesMaster" Target="/ppt/notesMasters/notesMaster1.xml" Id="Raed815245eab41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79a4f69fbd461e" /><Relationship Type="http://schemas.openxmlformats.org/officeDocument/2006/relationships/notesMaster" Target="/ppt/notesMasters/notesMaster1.xml" Id="Rbfe8f14ebfaa4d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02c5c2c6e8470d" /><Relationship Type="http://schemas.openxmlformats.org/officeDocument/2006/relationships/notesMaster" Target="/ppt/notesMasters/notesMaster1.xml" Id="Rc6ffbaf6ea044c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e66a6c2e8a4fd8" /><Relationship Type="http://schemas.openxmlformats.org/officeDocument/2006/relationships/notesMaster" Target="/ppt/notesMasters/notesMaster1.xml" Id="Re36f50b0a36b48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3ef5f8ce02430c" /><Relationship Type="http://schemas.openxmlformats.org/officeDocument/2006/relationships/notesMaster" Target="/ppt/notesMasters/notesMaster1.xml" Id="R3f40c323b0434f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69551736a54bf0" /><Relationship Type="http://schemas.openxmlformats.org/officeDocument/2006/relationships/notesMaster" Target="/ppt/notesMasters/notesMaster1.xml" Id="Rd3a7e4df9c4242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f65ebf1b54485d" /><Relationship Type="http://schemas.openxmlformats.org/officeDocument/2006/relationships/notesMaster" Target="/ppt/notesMasters/notesMaster1.xml" Id="Re2da0d48406342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330068e34e4565" /><Relationship Type="http://schemas.openxmlformats.org/officeDocument/2006/relationships/notesMaster" Target="/ppt/notesMasters/notesMaster1.xml" Id="R896ed33f5a194d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0:00-0:30 hook. One-liner: analyst gets 40 alerts/day; DALIL turns one into a cited note in ~25 s on-prem.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0:30-1:15 problem. Emphasise 57% is OUR synthetic benchmark — honesty first.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Solution walk-through, ~30 s. Point at card 4 + 6: checks and export are tonight's hardening work.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in 20-25 s. Stress: deterministic stages ~110 ms; only the narrative touches the LLM; zero egress by design.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1:15-2:55. Follow work/submission/defence-script.md table. Warm the LLM before your slot.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2:55-4:00 results. Never read AUC first; lead with FPR chart + 'own synthetic benchmark' caveat.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4:00-5:00 differentiator slide. The third row (semantics NOT verified) is the honesty line juries look for.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Differentiation vs the reference implementation; also covers data-licence rule of the challenge.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5:00-5:45 business. Every number here is labelled assumption-vs-measured. Pilot ask is the close.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6:30-7:00 close + ask. Then Q&amp;A from work/submission/qa-prep.md.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3f3d1f1e474e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fc8580156c487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8aa3b3bb304f8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LIGH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68EB00-F312-4106-B962-BA183F6B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DALIL · WIUT Hackathon 2026 · FinTech track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71B89E9-80C5-426B-9C12-80B09305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473952"/>
            <a:ext cx="523951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synthetic demo data · live: cornbread-left-licking.ngrok-free.dev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2DEDFFA-AE19-4CA2-A0D5-5F4D7C9B8C1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DARK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F5CDB0E-6E1B-4626-A219-8F5C0AB4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E8CB8"/>
                </a:solidFill>
                <a:latin typeface="Calibri"/>
                <a:ea typeface="Calibri"/>
                <a:cs typeface="Calibri"/>
              </a:rPr>
              <a:t>DALIL · WIUT Hackathon 2026 · FinTech track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A5F3163-7B85-42CF-944B-14F6B3B489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e2e1697fab43eb" /><Relationship Type="http://schemas.openxmlformats.org/officeDocument/2006/relationships/slideLayout" Target="/ppt/slideLayouts/slideLayout1.xml" Id="R0dec20acd938440c" /><Relationship Type="http://schemas.openxmlformats.org/officeDocument/2006/relationships/slideLayout" Target="/ppt/slideLayouts/slideLayout2.xml" Id="Re8330f8bc34a4baa" /><Relationship Type="http://schemas.openxmlformats.org/officeDocument/2006/relationships/slideLayout" Target="/ppt/slideLayouts/slideLayout3.xml" Id="R6a762490f9004ce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ED431D8-593D-4602-8831-D2AD952C358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ec20acd938440c"/>
    <p:sldLayoutId xmlns:r="http://schemas.openxmlformats.org/officeDocument/2006/relationships" id="2147483650" r:id="Re8330f8bc34a4baa"/>
    <p:sldLayoutId xmlns:r="http://schemas.openxmlformats.org/officeDocument/2006/relationships" id="2147483651" r:id="R6a762490f9004ce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ALIL navy">
  <a:themeElements>
    <a:clrScheme name="DALIL navy">
      <a:dk1>
        <a:srgbClr val="1E2761"/>
      </a:dk1>
      <a:lt1>
        <a:srgbClr val="FFFFFF"/>
      </a:lt1>
      <a:dk2>
        <a:srgbClr val="3D4A66"/>
      </a:dk2>
      <a:lt2>
        <a:srgbClr val="F2F6FC"/>
      </a:lt2>
      <a:accent1>
        <a:srgbClr val="1E2761"/>
      </a:accent1>
      <a:accent2>
        <a:srgbClr val="F2994A"/>
      </a:accent2>
      <a:accent3>
        <a:srgbClr val="1FA97A"/>
      </a:accent3>
      <a:accent4>
        <a:srgbClr val="E8A33D"/>
      </a:accent4>
      <a:accent5>
        <a:srgbClr val="CADCFC"/>
      </a:accent5>
      <a:accent6>
        <a:srgbClr val="8A96B8"/>
      </a:accent6>
      <a:hlink>
        <a:srgbClr val="2F6FDB"/>
      </a:hlink>
      <a:folHlink>
        <a:srgbClr val="6B7BA8"/>
      </a:folHlink>
    </a:clrScheme>
    <a:fontScheme name="DALI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ALIL nav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3edb9972a34dca" /><Relationship Type="http://schemas.openxmlformats.org/officeDocument/2006/relationships/notesSlide" Target="/ppt/notesSlides/notesSlide1.xml" Id="R4652383750df49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7fb03813af4f0c" /><Relationship Type="http://schemas.openxmlformats.org/officeDocument/2006/relationships/notesSlide" Target="/ppt/notesSlides/notesSlide2.xml" Id="R0858a7d12bf849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cf200f60e247c5" /><Relationship Type="http://schemas.openxmlformats.org/officeDocument/2006/relationships/notesSlide" Target="/ppt/notesSlides/notesSlide3.xml" Id="Rd68b0c56831644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e1c4221f73488f" /><Relationship Type="http://schemas.openxmlformats.org/officeDocument/2006/relationships/notesSlide" Target="/ppt/notesSlides/notesSlide4.xml" Id="Rffc83badd0064b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02ecbc235a14451" /><Relationship Type="http://schemas.openxmlformats.org/officeDocument/2006/relationships/notesSlide" Target="/ppt/notesSlides/notesSlide5.xml" Id="R1064499dc99241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5c5185e0e74901" /><Relationship Type="http://schemas.openxmlformats.org/officeDocument/2006/relationships/chart" Target="/ppt/slides/charts/chart1.xml" Id="Rf32ad26d51404899" /><Relationship Type="http://schemas.openxmlformats.org/officeDocument/2006/relationships/notesSlide" Target="/ppt/notesSlides/notesSlide6.xml" Id="R3ebbe8462a284d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111e23a1f74217" /><Relationship Type="http://schemas.openxmlformats.org/officeDocument/2006/relationships/notesSlide" Target="/ppt/notesSlides/notesSlide7.xml" Id="R956af6cb7a2a4b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d9e3008c4e4874" /><Relationship Type="http://schemas.openxmlformats.org/officeDocument/2006/relationships/notesSlide" Target="/ppt/notesSlides/notesSlide8.xml" Id="Rd65471669cde47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9c3f386bbb4b00" /><Relationship Type="http://schemas.openxmlformats.org/officeDocument/2006/relationships/notesSlide" Target="/ppt/notesSlides/notesSlide9.xml" Id="R44d46573a8f347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84c042bc3f4194" /><Relationship Type="http://schemas.openxmlformats.org/officeDocument/2006/relationships/notesSlide" Target="/ppt/notesSlides/notesSlide10.xml" Id="R53ff06ae5d8c4481" /></Relationships>
</file>

<file path=ppt/slides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../embeddings/Microsoft_Excel_Worksheet1.xlsx"/></Relationships>
</file>

<file path=ppt/slides/charts/chart1.xml><?xml version="1.0" encoding="utf-8"?>
<c:chartSpace xmlns:c="http://schemas.openxmlformats.org/drawingml/2006/chart">
  <c:lang val="en-US"/>
  <c:roundedCorners val="1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00" b="0" i="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False-positive rate @ band 50 (%) — lower is better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00" b="0" i="0" u="none" strike="noStrike">
              <a:solidFill>
                <a:srgbClr val="1E2761"/>
              </a:solidFill>
              <a:latin typeface="Calibri"/>
              <a:ea typeface="Calibri"/>
              <a:cs typeface="Calibri"/>
            </a:defRPr>
          </a:pPr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 xmlns:a="http://schemas.openxmlformats.org/drawingml/2006/main">
              <a:srgbClr val="F2994A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1" i="0" u="none" strike="noStrike">
                    <a:solidFill>
                      <a:srgbClr val="26324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Test split</c:v>
                </c:pt>
                <c:pt idx="1">
                  <c:v>Novel split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</c:v>
                </c:pt>
                <c:pt idx="1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DALIL ensemble</c:v>
                </c:pt>
              </c:strCache>
            </c:strRef>
          </c:tx>
          <c:spPr>
            <a:solidFill xmlns:a="http://schemas.openxmlformats.org/drawingml/2006/main">
              <a:srgbClr val="1FA97A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1" i="0" u="none" strike="noStrike">
                    <a:solidFill>
                      <a:srgbClr val="26324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Test split</c:v>
                </c:pt>
                <c:pt idx="1">
                  <c:v>Novel split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0.4</c:v>
                </c:pt>
              </c:numCache>
            </c:numRef>
          </c:val>
        </c:ser>
        <c:dLbls>
          <c:numFmt formatCode="0.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00" b="1" i="0" u="none" strike="noStrike">
                  <a:solidFill>
                    <a:srgbClr val="26324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 strike="noStrike">
                <a:solidFill>
                  <a:srgbClr val="3D4A66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2"/>
        <c:crosses val="autoZero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E6ECF7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 strike="noStrike">
                <a:solidFill>
                  <a:srgbClr val="3D4A66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 w="12700">
          <a:solidFill>
            <a:srgbClr val="FFFFFF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00">
              <a:solidFill>
                <a:srgbClr val="3D4A66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  <c:dispBlanksAs val="span"/>
  </c:chart>
  <c:spPr>
    <a:noFill xmlns:a="http://schemas.openxmlformats.org/drawingml/2006/main"/>
    <a:ln xmlns:a="http://schemas.openxmlformats.org/drawingml/2006/main">
      <a:noFill/>
    </a:ln>
  </c:spPr>
  <c:externalData xmlns:r="http://schemas.openxmlformats.org/officeDocument/2006/relationships" r:id="rId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69A533-8B7F-4BE9-A13E-657F3354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7724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30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PARTNER PRODUCT · FINTECH / AI IN FINANCE</a:t>
            </a:r>
            <a:endParaRPr sz="13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11B86F0-0AA3-4785-8C70-DF8C02AB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731520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DALIL</a:t>
            </a:r>
            <a:endParaRPr sz="7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3F2CB0F-087A-4A34-A729-E1893144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97480"/>
            <a:ext cx="10058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Evidence-grounded AML investigation copilot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3C461BC-2F1C-4299-89AA-CC0A2307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10128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ML risk assessment · evidence-based template · optional experimental local LLM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649D50C-3D64-4C18-A8F8-EE453757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069080"/>
            <a:ext cx="137160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4B8443-411E-40F4-8B47-F7C8957C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069080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SC-01..06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6FDF22F-C28B-43FF-A02A-AB49559E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069080"/>
            <a:ext cx="187452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E2DB6DF-D44B-43B6-AF1E-A418EC67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069080"/>
            <a:ext cx="1874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[E1] -&gt; evidence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16D2FCD-3837-4008-8334-7F0A6900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4069080"/>
            <a:ext cx="173736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42F1F9-4C81-4C51-86DD-BD78B371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4069080"/>
            <a:ext cx="1737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sha256 verify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AF46DE6-4496-4EE6-8DD7-5B37C237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069080"/>
            <a:ext cx="192024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0DC3785-4FCE-4D48-8806-C10E2B11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069080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TEMPLATE MODE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2E33B8A-75AF-4E90-BC66-9734D3B6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Live demo:  </a:t>
            </a: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https://cornbread-left-licking.ngrok-free.dev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0AC8F03-3108-404C-B143-C8B130B9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68112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E8CB8"/>
                </a:solidFill>
                <a:latin typeface="Calibri"/>
                <a:ea typeface="Calibri"/>
                <a:cs typeface="Calibri"/>
              </a:rPr>
              <a:t>Proposed owner: MKBANK FCC alert-investigation desk · partnership not confirmed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78CF138-1825-491D-BABC-71AC436EB61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26325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ED23B7-C656-44B3-9002-281A08ED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problem: alerts nobody has time to read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28127A1-5BB1-4231-A710-1D748877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3949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40</a:t>
            </a:r>
            <a:endParaRPr sz="4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7877A3A-445F-49EE-9875-76199262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394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alerts per analyst a day (assumption)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88BD113-A1CF-40C8-B6BD-750091B1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53949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30-40 min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1F7771-ECC8-4F8E-A408-12820020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37560"/>
            <a:ext cx="5394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per alert (assumption, not measured)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0D919E0-6E00-4F1C-87AE-9C00AD77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3949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2994A"/>
                </a:solidFill>
                <a:latin typeface="Cambria"/>
                <a:ea typeface="Cambria"/>
                <a:cs typeface="Cambria"/>
              </a:rPr>
              <a:t>57%</a:t>
            </a:r>
            <a:endParaRPr sz="4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D7D9785-73A7-4AD3-823D-72DF8DDE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17720"/>
            <a:ext cx="5394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false positives — rules-only layer on our own synthetic benchmark*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2ACEA62-413A-4EB0-8D2E-F72A2B76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5212080" cy="4160520"/>
          </a:xfrm>
          <a:prstGeom xmlns:a="http://schemas.openxmlformats.org/drawingml/2006/main" prst="roundRect">
            <a:avLst>
              <a:gd name="adj" fmla="val 1319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32FA50C-5346-48AB-A0CE-CF6E3B33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64592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Why not just call a cloud LLM?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4F1ED4E-0634-4CDD-B1EA-A831889D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66344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4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Production constraint: customer data stays inside the bank</a:t>
            </a:r>
            <a:endParaRPr sz="14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4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Analysts need transaction-level evidence for their conclusions</a:t>
            </a:r>
            <a:endParaRPr sz="14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4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 LLM citation alone does not establish that a claim is true</a:t>
            </a:r>
            <a:endParaRPr sz="14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95EE029-516A-43C7-8B79-34243E7C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572000"/>
            <a:ext cx="4663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Rules don't just drown analysts — they still miss 20.9% of novel laundering variants (our synthetic novel split).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8F72C2-9850-485D-B2C2-32012864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97880"/>
            <a:ext cx="11064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* measured on our held-out synthetic test set (novel split: 58.1%) — a baseline for the pain, not a bank statistic.</a:t>
            </a:r>
            <a:endParaRPr sz="10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66E39EE-C958-4304-AB63-121AA2C0053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317878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B76F08-5CBD-4489-94C9-AC5B2CD3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DALIL: one screen from alert to decision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F10EF8-98BA-45C5-A99C-2FDE9A9B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6CA1697-F1D7-4857-B7F1-C503A15E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45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780CFA-2CB0-4F3D-AEAC-6ACBC52F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45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F527B7A-6DB3-41CA-AAAD-6E585877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655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0-100 score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408E688-872F-4112-8E67-B108ECEE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Calibrated GBM (70%) + transparent scenario rules (30%), banded low / medium / high / critical</a:t>
            </a:r>
            <a:endParaRPr sz="12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5B54AF-98CF-4A38-8E45-6866D8DB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310" y="1417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C48B0B8-AA0F-4430-8886-AE2F156C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1645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8AEE9BF-579D-4F0E-971E-C560870D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1645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56C871-59A2-4600-9E25-6BD5DD90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3830" y="1655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Typology hits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EE2B3F9-2224-4B3F-A4CF-A8598880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2194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SC-01 structuring .. SC-06 turnover mismatch — each hit linked to its transactions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CD7125E-1047-47E0-AB9B-CC813A99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895" y="1417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9EE1410-6AC9-4701-8BB1-5A1A7EF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1645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5861C0-747C-45EF-8303-C02109A5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1645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5613CD1-73B8-4EEF-AA8A-81F0C5FB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415" y="1655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Evidence note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04F7B69-18AF-4C0A-8AF8-30897E19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2194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Template note built only from evidence [E#]; optional experimental local-LLM draft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BF3F68D-09A7-487B-BB8C-657AA3DA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E147D4E-55F5-45AE-B57D-E437394F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6BD7CFA-05B5-4265-B58A-A11D25FE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51E3478-FC61-43E9-B82C-D3174D4C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41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Machine checks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0354B28-1CAE-4219-9C68-61DF5674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[E#] exists · numbers &amp; dates match cited evidence · meaning not checked — warnings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812F2E0-692E-4F5A-8228-D0578AED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310" y="3703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0600F5-459F-404A-A17C-F9D0E316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3931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45A7463-CCA4-426B-99AF-D610A925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3931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8295276-77E7-4D3E-85F5-032CC5CB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3830" y="3941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Attribution</a:t>
            </a:r>
            <a:endParaRPr sz="16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95B1005-87E2-41BE-8774-38848873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4480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Leave-one-out: which features moved the score, with sign and magnitude</a:t>
            </a:r>
            <a:endParaRPr sz="12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713EF58-56CC-4498-951C-6A566E47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895" y="3703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5328FDF-E673-4B62-B139-65E71A10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3931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C1FC169-F66C-4E50-ACE3-82127F1C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3931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31D7EE2-C662-45F1-8EF2-9570EFCF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415" y="3941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Audit + export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6F66E4D-3016-4DE9-962E-64D15527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4480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Decision bound to analysis_id + input hash; server-built package, per-section SHA-256</a:t>
            </a:r>
            <a:endParaRPr sz="125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8505F1D-5305-41D3-B88F-D166FB39F34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2565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11FAD3-CCC1-4E85-812D-E5D7B76C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One host, local inference — no external AI API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36E0C3B-F19F-4733-B11B-83B8D77A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88720"/>
            <a:ext cx="11201400" cy="45720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19050">
            <a:solidFill>
              <a:srgbClr val="1E2761"/>
            </a:solidFill>
            <a:prstDash val="dash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0B5EFDC-8EDC-44B6-9698-C2A5E179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01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single host (demo: laptop)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D87BCD-77CD-4293-9BED-EDB3ABB9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27E0D27-9392-49A9-ADA7-4086E8C7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CSV / alert queue</a:t>
            </a:r>
            <a:endParaRPr sz="11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E5131ED-5E3A-4825-80F2-DD962C16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jury input or demo case</a:t>
            </a:r>
            <a:endParaRPr sz="9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D40426A-9FE8-4863-ABE9-A8CB010C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576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AB23A4B-6E7D-4D75-9514-6BF47D57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596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8D1AB4D-1AA1-4324-8E97-4565CAD8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748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Ingest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A2D76FF-6F88-4E15-9BC6-CD39B433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7460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strict: bad rows rejected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DCC4E08-EFB5-4902-8A08-171C4FEF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F7299F0-4045-4716-A548-CFE803C8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74A576F-6009-4188-B9BE-26DFD02E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Entity resolution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EE9309-D52C-4121-B322-FA6D8EE6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ambiguity-guarded merges</a:t>
            </a:r>
            <a:endParaRPr sz="9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448E9D0-DCDA-4727-8E23-06C6471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6168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FA68847-E75E-470E-81AF-9D59DF2A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188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132D687-2FDA-48D9-8DCB-8B1ED907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340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49 features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D0A52D1-D0A0-4BF5-A4BC-5B691F6A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1052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analyst-readable names</a:t>
            </a:r>
            <a:endParaRPr sz="9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27BB0CA-EA92-4B31-8C62-2C685706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2964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D63CF0D-E4BB-403F-97BD-B516C478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984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C45AF85-26E2-45F2-93CD-4DF0C9DE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SC-01..06 + GBM</a:t>
            </a:r>
            <a:endParaRPr sz="11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04247D9-15EC-439D-8210-6EEE84F2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rules 30% · model 70%</a:t>
            </a:r>
            <a:endParaRPr sz="9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3DCF308-8AFA-4A2D-8F3E-A2E665EC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C6877C8-32C7-4757-8047-EC88A1A7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E773925-076E-430C-AFCE-ADC3D9F3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2932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Ensemble score</a:t>
            </a:r>
            <a:endParaRPr sz="11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8ED33AA-99A8-420E-8C88-BBE54BD3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644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band 0-100</a:t>
            </a:r>
            <a:endParaRPr sz="9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62C46E8-A2B8-4432-BEFD-9DC19CC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7C16AC0-6A45-4FEB-B1B9-2C92A3FE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Evidence pack</a:t>
            </a:r>
            <a:endParaRPr sz="11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2F49CCF-22C3-474C-8307-B8B3C31A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E1..En from features + txs</a:t>
            </a:r>
            <a:endParaRPr sz="9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C4F9776-55FC-4D22-95F5-D6B4E73F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63151C3-3A2E-4651-91B8-CA393E4E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4757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9C3E049-0445-4DE1-9F94-60670789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909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llama.cpp :8081</a:t>
            </a:r>
            <a:endParaRPr sz="11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58A4DCA-4774-42F7-B636-B767AA1C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9621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optional experimental draft</a:t>
            </a:r>
            <a:endParaRPr sz="9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78440CC-24E2-4B08-AE0D-45DD7FB8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437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93B76BC3-79DE-4908-9BCE-A66F6B1F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714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4655C6C-F1EF-4E77-85E4-3D071D3C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866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Note checks</a:t>
            </a:r>
            <a:endParaRPr sz="11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FD2CFEF-9246-440E-A588-E41A979D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578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IDs · numbers · dates (warn)</a:t>
            </a:r>
            <a:endParaRPr sz="9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AA7EF72-5020-49C5-AA42-403EB038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394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AAE7984-1B57-46CF-913A-F577581B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2670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47FB7B6-64C4-49A9-881D-6160F323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822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Decision log</a:t>
            </a:r>
            <a:endParaRPr sz="115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3AD88C1-0E6F-4A2A-BAFA-97893EBC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534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analysis_id + hashes</a:t>
            </a:r>
            <a:endParaRPr sz="9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6C14ACF4-AB84-4E24-A028-A79E0C7F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4350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A0969672-CDFE-472C-9245-D85C143A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627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A892479C-97DB-438B-850F-A321605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4779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Export bundle</a:t>
            </a:r>
            <a:endParaRPr sz="11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92F3A25-5055-427E-9C65-C42C163A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6491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canonical JSON + sha-256</a:t>
            </a:r>
            <a:endParaRPr sz="9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0B25E1B5-489E-451B-858F-0CDC6748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4840"/>
            <a:ext cx="10698480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F07823C-AF00-42D3-BB16-6151A3EB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26280"/>
            <a:ext cx="10332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SSE stage stream  </a:t>
            </a: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-&gt; React SPA: queue / investigate / system — stages stream live while the pipeline runs</a:t>
            </a:r>
            <a:endParaRPr sz="125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3E020358-7E85-41C5-AA2B-1228EEAF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9240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No external AI API · outbound traffic not audited · the ngrok demo runs on the presenter's laptop with synthetic data — a bank rollout needs its own deployment, security review and model-risk validation.</a:t>
            </a:r>
            <a:endParaRPr sz="1050"/>
          </a:p>
        </p:txBody>
      </p:sp>
      <p:sp>
        <p:nvSpPr>
          <p:cNvPr id="5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EFC64DE-9300-461C-89ED-5EEAF78A09C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38695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612139-B9BB-42BC-A132-2D96E3B3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LIVE DEMO</a:t>
            </a:r>
            <a:endParaRPr sz="4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01EF640-AB27-4BF7-BAB1-41CDEB14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32588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100 seconds — real UI, real pipeline, no edits</a:t>
            </a:r>
            <a:endParaRPr sz="1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81C2D38-0145-4DAE-9DEF-441C9A64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A058BB9-F1E7-4969-AC1A-A58658DD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F71F68-7523-4006-9AED-90303615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929384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New CSV -&gt; load template (12 synthetic txs, no customer metadata) -&gt; Run</a:t>
            </a:r>
            <a:endParaRPr sz="15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4208107-1D7A-4AB9-86C2-1C0C7650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919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247E46C-9355-4FEC-A1F5-030E7CC3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9192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EA939A-61AD-4F74-8DE9-4F5C4039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42616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 83 critical · SC-01 hit · SC-03/SC-06 NOT EVALUATED · PROVISIONAL</a:t>
            </a:r>
            <a:endParaRPr sz="15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F0AF07C-C8C7-43D7-A372-8A71745F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9242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36C1980-AD7F-4946-ABA0-6F2A6AF0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92424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A77A85D-4CB0-41D7-A87E-CB4938C0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355848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Click a citation [E#] -&gt; source transaction highlighted and scrolled into view</a:t>
            </a:r>
            <a:endParaRPr sz="15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E8A8A32-3E5B-4439-ADE0-4EC5DF71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05656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CB4F169-1BC7-425D-8BB7-FD38642F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05656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BFDFB61-0C26-444A-9834-37F60642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69080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Separate checks: IDs exist / numbers &amp; dates match / meaning NOT machine-verified</a:t>
            </a:r>
            <a:endParaRPr sz="15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4515A87-1E41-4E49-B02E-6CF90B90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1888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C72A5E-5590-4E02-BA2A-C36DB311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1888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2EF3590-A942-49EB-B3CA-8B504DCA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82312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 + justification -&gt; Escalate -&gt; reload (from server) -&gt; Export: integrity + server match</a:t>
            </a:r>
            <a:endParaRPr sz="15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783018F-8B6F-4F96-8A82-B4BF1964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06440"/>
            <a:ext cx="310896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F13FCE2-9EA7-4A42-AEC4-E10BD2CF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06440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tunnel down -&gt; localhost:8000</a:t>
            </a:r>
            <a:endParaRPr sz="1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C2C129C-4B72-4A68-B0AA-2FDAD9E1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806440"/>
            <a:ext cx="320040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01F63C6-A26E-47F6-B2D8-74D35B4B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806440"/>
            <a:ext cx="3200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LLM down -&gt; template note only</a:t>
            </a:r>
            <a:endParaRPr sz="10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62AAA2A-CBAC-4CCD-B951-2E1C0BD1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806440"/>
            <a:ext cx="374904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6A2275-D579-4E15-AA27-20C8EEA0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806440"/>
            <a:ext cx="3749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edited file -&gt; scripts/verify_export.py (CLI)</a:t>
            </a:r>
            <a:endParaRPr sz="1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DBC10A2-3205-4BA8-B68B-3C87F7223B5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39182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C5EC8E-F117-4080-95BF-A5156874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Honest numbers — synthetic, held-out, reproducible</a:t>
            </a:r>
            <a:endParaRPr sz="3000"/>
          </a:p>
        </p:txBody>
      </p:sp>
      <p:graphicFrame>
        <p:nvGraphicFramePr>
          <p:cNvPr id="3" name="Chart 0">
            <a:extLst xmlns:a="http://schemas.openxmlformats.org/drawingml/2006/main">
              <a:ext uri="{FF2B5EF4-FFF2-40B4-BE49-F238E27FC236}">
                <a16:creationId xmlns:a16="http://schemas.microsoft.com/office/drawing/2014/main" id="{EF001FDF-2DF1-496B-A41D-D22683786131}"/>
              </a:ext>
            </a:extLst>
          </p:cNvPr>
          <p:cNvGraphicFramePr/>
          <p:nvPr/>
        </p:nvGraphicFramePr>
        <p:xfrm>
          <a:off xmlns:a="http://schemas.openxmlformats.org/drawingml/2006/main" x="548640" y="1371600"/>
          <a:ext xmlns:a="http://schemas.openxmlformats.org/drawingml/2006/main" cx="5806440" cy="4343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2ad26d51404899"/>
          </a:graphicData>
        </a:graphic>
      </p:graphicFrame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1771A10-3E2E-4098-A1C8-68572BFF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173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99.2%</a:t>
            </a:r>
            <a:endParaRPr sz="24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520D87F-DD39-4C44-9024-E958EEA1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56232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ensemble recall @ novel split, with 0.4% FPR — held-out synthetic variants</a:t>
            </a:r>
            <a:endParaRPr sz="12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6D8115F-0894-41DF-B678-D6838100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96312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96.4%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A235BDE-6B1D-490E-BD70-47B24BE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35224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precision @ 10% ASSUMED prevalence (novel) — a planning assumption, not bank data</a:t>
            </a:r>
            <a:endParaRPr sz="1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6265FBC-57A1-4516-BD8E-E0427A06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75304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0/20</a:t>
            </a:r>
            <a:endParaRPr sz="2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449D2C6-17BF-4FB3-BF9D-4CC63F3F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14216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LLM drafts with zero check issues — numbers match cited evidence 20.0%; meaning not measured</a:t>
            </a:r>
            <a:endParaRPr sz="12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795E2D8-B59B-4AAE-B2E2-17D29893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4296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189 ms / 19 s</a:t>
            </a:r>
            <a:endParaRPr sz="2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50093F4-8ED2-464A-BE15-33E77196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93208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pipeline p50 (no LLM) / experimental LLM draft p50, 4 CPU threads</a:t>
            </a:r>
            <a:endParaRPr sz="1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22963D5-2A30-4EF3-BCBE-EF106CB0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ROC-AUC 0.9945 / 0.9937 (test / novel) is optimistic because the data is synthetic. Failure list (5 FPs, 1 FN) ships in the UI. Full report: eval/results/eval_report.json</a:t>
            </a:r>
            <a:endParaRPr sz="10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52150CA-5004-4416-8856-00481734351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00646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54C374-7D9D-4D19-81F6-93CC0EDB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What is checked — and what is not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C08C82-CEC0-4B24-818B-CFD6B3C8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97A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EC6D53D-E2F8-4255-832F-8A641E6E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  <a:endParaRPr sz="2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6F9C396-9670-4976-A823-E0C8178F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444752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Citations exist in the evidence pack</a:t>
            </a:r>
            <a:endParaRPr sz="16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71636F6-2161-495C-86AB-697268C7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847088"/>
            <a:ext cx="60350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Every [E#] must resolve to a real evidence id; a note with zero citations is reported as 0, not 'N/A'</a:t>
            </a:r>
            <a:endParaRPr sz="12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437213E-AA5F-41A2-BD89-C32B4A71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97A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D4B118-93F7-449B-B045-9407BBF0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  <a:endParaRPr sz="2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A6C6175-A20D-4917-B3FC-C83E7C21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62072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Numbers &amp; dates match cited evidence</a:t>
            </a:r>
            <a:endParaRPr sz="16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993E9D3-9D56-41A4-9E24-64594B97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264408"/>
            <a:ext cx="60350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Amounts (incl. 'mln'), counts and dates must match the evidence cited in that sentence — else flagged. Warnings, not a block.</a:t>
            </a:r>
            <a:endParaRPr sz="12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17C23A8-1083-4FEA-A29D-CD670E9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994A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E02BB6B-2AB6-41B8-963E-28E7DFAE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✕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1CC3B42-CCD5-4D6C-9D5E-DFEA0F55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279392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Semantics NOT machine-verified</a:t>
            </a:r>
            <a:endParaRPr sz="16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36C778C-E513-40D2-A3F6-15ACB3D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81728"/>
            <a:ext cx="60350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 valid citation does not make a claim true — the analyst reviews meaning; the LLM draft is experimental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DB9E356-F8E6-4631-B1A4-B746C23D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417320"/>
            <a:ext cx="4069080" cy="4526280"/>
          </a:xfrm>
          <a:prstGeom xmlns:a="http://schemas.openxmlformats.org/drawingml/2006/main" prst="roundRect">
            <a:avLst>
              <a:gd name="adj" fmla="val 1348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ACCEE99-6A43-4DED-8913-7BBA4EF9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645920"/>
            <a:ext cx="3566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Verifiable export</a:t>
            </a:r>
            <a:endParaRPr sz="17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4DAC560-F28A-4E0B-B7D2-E96EA35D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103120"/>
            <a:ext cx="356616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 b="1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One JSON package:</a:t>
            </a: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input + SHA-256 · analysis_id · model/ruleset ids · results · evidence · note + LLM draft · decision</a:t>
            </a: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Built by the server from its own record; integrity (hashes) and server match are checked separately.</a:t>
            </a: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Limits printed inside the file: a hash is NOT a signature; an attacker holding the whole package can rewrite content and hashes together; LLM text is not bit-reproducible.</a:t>
            </a:r>
            <a:endParaRPr sz="12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C475C8B-1025-4FD7-936E-CD8491BA2FE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408537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1E1C8CF-920D-4CA4-BBEF-E1596F8E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Local fit and validation limits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6E427E-EC9F-425F-AC54-5E0FC370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394960" cy="4480560"/>
          </a:xfrm>
          <a:prstGeom xmlns:a="http://schemas.openxmlformats.org/drawingml/2006/main" prst="roundRect">
            <a:avLst>
              <a:gd name="adj" fmla="val 1224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B6167BC-159E-441F-99CD-3ED25A76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What ships in the repo</a:t>
            </a:r>
            <a:endParaRPr sz="1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A986A44-1237-4828-B975-E2772560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48463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Synthetic casebook: 3 880 cases, CC0, generator + DATA_CARD committed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Code: MIT · model: Qwen2.5-1.5B (Apache-2.0) · llama.cpp (MIT)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Ground-truth labels exist only offline — the API strips them from /api/queue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91 pytest tests + browser E2E: strict input, RU/UZ ambiguity, LLM down/truncated, decision binding, forged results, export tamper</a:t>
            </a:r>
            <a:endParaRPr sz="13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423441-B4E7-4F4F-A6B8-1529B27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417320"/>
            <a:ext cx="5394960" cy="4480560"/>
          </a:xfrm>
          <a:prstGeom xmlns:a="http://schemas.openxmlformats.org/drawingml/2006/main" prst="roundRect">
            <a:avLst>
              <a:gd name="adj" fmla="val 1224"/>
            </a:avLst>
          </a:prstGeom>
          <a:solidFill xmlns:a="http://schemas.openxmlformats.org/drawingml/2006/main">
            <a:srgbClr val="FFF6EC"/>
          </a:solidFill>
          <a:ln xmlns:a="http://schemas.openxmlformats.org/drawingml/2006/main" w="12700">
            <a:solidFill>
              <a:srgbClr val="F0D9B8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6693EF7-2035-4951-9D20-BF57D6DA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459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8A5A1B"/>
                </a:solidFill>
                <a:latin typeface="Cambria"/>
                <a:ea typeface="Cambria"/>
                <a:cs typeface="Cambria"/>
              </a:rPr>
              <a:t>Differentiation to validate</a:t>
            </a:r>
            <a:endParaRPr sz="17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42A8FE5-C5CC-426D-81CA-C6FA5606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48840"/>
            <a:ext cx="48463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UZS amount validation and RU/UZ name handling in one review workflow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Local inference, linked transaction evidence and server-bound decisions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Existing AML suites also manage cases; our small prototype has no proven barrier to copying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Next evidence: analyst task-time study and an independent bank holdout; no confirmed partnership</a:t>
            </a:r>
            <a:endParaRPr sz="13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5CBAE2-ACDD-4E2D-B764-BB11C076CDD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126777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18758B-9021-48FE-BD47-49FFB960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Pilot budget and payback: illustrative assumptions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BB4B0D8-D9CB-4576-B1A1-D2585F9C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7607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BF8BCE-F941-47B2-81C2-45184A36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81912"/>
            <a:ext cx="1920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$6,000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6F1089F-BAB4-4155-84A8-636892CA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81912"/>
            <a:ext cx="3383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One-off pilot: labour 200 h x $25 = $5,000; infrastructure $200; data review $500; reserve $300.</a:t>
            </a:r>
            <a:endParaRPr sz="12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76FF92D-32BB-4E8C-81D6-2E368953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53512"/>
            <a:ext cx="57607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9FC194-0C18-423A-B845-14F20DA6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18104"/>
            <a:ext cx="1920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2994A"/>
                </a:solidFill>
                <a:latin typeface="Cambria"/>
                <a:ea typeface="Cambria"/>
                <a:cs typeface="Cambria"/>
              </a:rPr>
              <a:t>$2,000 / mo</a:t>
            </a:r>
            <a:endParaRPr sz="2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1B47F48-0591-47EA-B1E5-359597C2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18104"/>
            <a:ext cx="3383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Modelled net benefit: 4,000 alerts x 5 min / 60 x $15/h x 50% realised = $2,500; less $500/month operations.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EF6A81F-FAB6-41C3-9461-A95732F3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9704"/>
            <a:ext cx="57607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32D6142-2FDA-4C69-B8E4-7553924C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54296"/>
            <a:ext cx="1920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 months</a:t>
            </a:r>
            <a:endParaRPr sz="2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FBFC4AA-A7EE-4473-9F6A-F8DC40D2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654296"/>
            <a:ext cx="3383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Simple payback after rollout: $6,000 / $2,000. At 2,000 alerts/month: $750 net, 8 months. No measured savings.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01A0062-2E07-48F8-B209-C667C9D9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417320"/>
            <a:ext cx="4983480" cy="4526280"/>
          </a:xfrm>
          <a:prstGeom xmlns:a="http://schemas.openxmlformats.org/drawingml/2006/main" prst="roundRect">
            <a:avLst>
              <a:gd name="adj" fmla="val 1212"/>
            </a:avLst>
          </a:prstGeom>
          <a:solidFill xmlns:a="http://schemas.openxmlformats.org/drawingml/2006/main">
            <a:srgbClr val="F1F8F4"/>
          </a:solidFill>
          <a:ln xmlns:a="http://schemas.openxmlformats.org/drawingml/2006/main" w="12700">
            <a:solidFill>
              <a:srgbClr val="CBE5D8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CC023B9-E361-49D3-939D-8926A1CF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45920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7603F"/>
                </a:solidFill>
                <a:latin typeface="Cambria"/>
                <a:ea typeface="Cambria"/>
                <a:cs typeface="Cambria"/>
              </a:rPr>
              <a:t>Proposed 4-week workflow pilot</a:t>
            </a:r>
            <a:endParaRPr sz="1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EBA1CE0-530C-4B33-82A3-9F7CA0A3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48056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Start with 50 authorised cases inside the bank; no real customer data in this demo</a:t>
            </a:r>
            <a:endParaRPr sz="13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Measure review time, corrections and missed evidence; this sample cannot establish a low FPR</a:t>
            </a:r>
            <a:endParaRPr sz="1350"/>
          </a:p>
          <a:p xmlns:a="http://schemas.openxmlformats.org/drawingml/2006/main">
            <a:pPr marL="685800" lvl="1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Use a larger independent holdout for detection quality and recalibration</a:t>
            </a:r>
            <a:endParaRPr sz="1350"/>
          </a:p>
          <a:p xmlns:a="http://schemas.openxmlformats.org/drawingml/2006/main">
            <a:pPr marL="685800" lvl="1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Budget and payback are assumptions, not a quote or bank agreement; security, data mapping and model validation remain required</a:t>
            </a:r>
            <a:endParaRPr sz="13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1066E0-855B-4B40-A376-2E670CFADF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6552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04EB657-7595-43FF-9E7C-9F4CB8B5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5448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analyst stays in the loop.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9C279A7-005D-436F-AF5B-06FEB12C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2860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A33D"/>
                </a:solidFill>
                <a:latin typeface="Cambria"/>
                <a:ea typeface="Cambria"/>
                <a:cs typeface="Cambria"/>
              </a:rPr>
              <a:t>No external AI API. Synthetic demo data.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C89A4AF-E432-45F7-A153-A7D7121C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83280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Live:  </a:t>
            </a: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https://cornbread-left-licking.ngrok-free.dev</a:t>
            </a: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     Repo:  </a:t>
            </a: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github.com/funstorm15/dalil · README + eval report + 91 tests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89DEDF9-3B57-4369-9A75-3940FDE1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9768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Thank you — questions?</a:t>
            </a:r>
            <a:endParaRPr sz="2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68067A7-AEAC-444C-9F11-4AC856B7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6692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7E8CB8"/>
                </a:solidFill>
                <a:latin typeface="Calibri"/>
                <a:ea typeface="Calibri"/>
                <a:cs typeface="Calibri"/>
              </a:rPr>
              <a:t>synthetic demo · MKBANK: proposed pilot, not a confirmed partnership · metrics are our own benchmark — see README §5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A767BDF-2525-4BE8-B633-B770881CD04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38982278"/>
      </p:ext>
    </p:extLst>
  </p:cSld>
</p:sld>
</file>

<file path=ppt/theme/theme1.xml><?xml version="1.0" encoding="utf-8"?>
<a:theme xmlns:a="http://schemas.openxmlformats.org/drawingml/2006/main" name="DALIL navy">
  <a:themeElements>
    <a:clrScheme name="DALIL navy">
      <a:dk1>
        <a:srgbClr val="1E2761"/>
      </a:dk1>
      <a:lt1>
        <a:srgbClr val="FFFFFF"/>
      </a:lt1>
      <a:dk2>
        <a:srgbClr val="3D4A66"/>
      </a:dk2>
      <a:lt2>
        <a:srgbClr val="F2F6FC"/>
      </a:lt2>
      <a:accent1>
        <a:srgbClr val="1E2761"/>
      </a:accent1>
      <a:accent2>
        <a:srgbClr val="F2994A"/>
      </a:accent2>
      <a:accent3>
        <a:srgbClr val="1FA97A"/>
      </a:accent3>
      <a:accent4>
        <a:srgbClr val="E8A33D"/>
      </a:accent4>
      <a:accent5>
        <a:srgbClr val="CADCFC"/>
      </a:accent5>
      <a:accent6>
        <a:srgbClr val="8A96B8"/>
      </a:accent6>
      <a:hlink>
        <a:srgbClr val="2F6FDB"/>
      </a:hlink>
      <a:folHlink>
        <a:srgbClr val="6B7BA8"/>
      </a:folHlink>
    </a:clrScheme>
    <a:fontScheme name="DALI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ALIL nav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2026-10-11T04:22:28.0520000Z</dcterms:created>
  <dcterms:modified xsi:type="dcterms:W3CDTF">2026-10-11T04:22:28.0520000Z</dcterms:modified>
</coreProperties>
</file>