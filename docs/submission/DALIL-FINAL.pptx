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efdb024bd4127" /><Relationship Type="http://schemas.openxmlformats.org/officeDocument/2006/relationships/extended-properties" Target="/docProps/app.xml" Id="R7cb5d68154b54fb4" /><Relationship Type="http://schemas.openxmlformats.org/officeDocument/2006/relationships/officeDocument" Target="/ppt/presentation.xml" Id="Racab49cfbdc2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2412b27f944c7"/>
  </p:sldMasterIdLst>
  <p:notesMasterIdLst>
    <p:notesMasterId xmlns:r="http://schemas.openxmlformats.org/officeDocument/2006/relationships" r:id="R58d4c73a09424352"/>
  </p:notesMasterIdLst>
  <p:sldIdLst>
    <p:sldId xmlns:r="http://schemas.openxmlformats.org/officeDocument/2006/relationships" id="256" r:id="Ra31d526f83974dc7"/>
    <p:sldId xmlns:r="http://schemas.openxmlformats.org/officeDocument/2006/relationships" id="257" r:id="R648f35f437bd42e6"/>
    <p:sldId xmlns:r="http://schemas.openxmlformats.org/officeDocument/2006/relationships" id="258" r:id="R1c37968ce36a49ef"/>
    <p:sldId xmlns:r="http://schemas.openxmlformats.org/officeDocument/2006/relationships" id="259" r:id="R5a5237676ad84d2c"/>
    <p:sldId xmlns:r="http://schemas.openxmlformats.org/officeDocument/2006/relationships" id="260" r:id="R57a640f99d6b48e9"/>
    <p:sldId xmlns:r="http://schemas.openxmlformats.org/officeDocument/2006/relationships" id="261" r:id="R66c21188146743dc"/>
    <p:sldId xmlns:r="http://schemas.openxmlformats.org/officeDocument/2006/relationships" id="262" r:id="Rc5493b23ccbe4e0c"/>
    <p:sldId xmlns:r="http://schemas.openxmlformats.org/officeDocument/2006/relationships" id="263" r:id="Ra2ac3a12339d4c9d"/>
    <p:sldId xmlns:r="http://schemas.openxmlformats.org/officeDocument/2006/relationships" id="264" r:id="R5b80c68eb09b475d"/>
    <p:sldId xmlns:r="http://schemas.openxmlformats.org/officeDocument/2006/relationships" id="265" r:id="Rb65ca7e87230488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b76fc4ee84902" /><Relationship Type="http://schemas.openxmlformats.org/officeDocument/2006/relationships/slideMaster" Target="/ppt/slideMasters/slideMaster1.xml" Id="R3ef2412b27f944c7" /><Relationship Type="http://schemas.openxmlformats.org/officeDocument/2006/relationships/notesMaster" Target="/ppt/notesMasters/notesMaster1.xml" Id="R58d4c73a09424352" /><Relationship Type="http://schemas.openxmlformats.org/officeDocument/2006/relationships/presProps" Target="/ppt/presProps.xml" Id="Re2f8c47f44c342de" /><Relationship Type="http://schemas.openxmlformats.org/officeDocument/2006/relationships/viewProps" Target="/ppt/viewProps.xml" Id="R65e4044cda7c40ad" /><Relationship Type="http://schemas.openxmlformats.org/officeDocument/2006/relationships/tableStyles" Target="/ppt/tableStyles.xml" Id="R074ce032f84d4340" /><Relationship Type="http://schemas.openxmlformats.org/officeDocument/2006/relationships/slide" Target="/ppt/slides/slide1.xml" Id="Ra31d526f83974dc7" /><Relationship Type="http://schemas.openxmlformats.org/officeDocument/2006/relationships/slide" Target="/ppt/slides/slide2.xml" Id="R648f35f437bd42e6" /><Relationship Type="http://schemas.openxmlformats.org/officeDocument/2006/relationships/slide" Target="/ppt/slides/slide3.xml" Id="R1c37968ce36a49ef" /><Relationship Type="http://schemas.openxmlformats.org/officeDocument/2006/relationships/slide" Target="/ppt/slides/slide4.xml" Id="R5a5237676ad84d2c" /><Relationship Type="http://schemas.openxmlformats.org/officeDocument/2006/relationships/slide" Target="/ppt/slides/slide5.xml" Id="R57a640f99d6b48e9" /><Relationship Type="http://schemas.openxmlformats.org/officeDocument/2006/relationships/slide" Target="/ppt/slides/slide6.xml" Id="R66c21188146743dc" /><Relationship Type="http://schemas.openxmlformats.org/officeDocument/2006/relationships/slide" Target="/ppt/slides/slide7.xml" Id="Rc5493b23ccbe4e0c" /><Relationship Type="http://schemas.openxmlformats.org/officeDocument/2006/relationships/slide" Target="/ppt/slides/slide8.xml" Id="Ra2ac3a12339d4c9d" /><Relationship Type="http://schemas.openxmlformats.org/officeDocument/2006/relationships/slide" Target="/ppt/slides/slide9.xml" Id="R5b80c68eb09b475d" /><Relationship Type="http://schemas.openxmlformats.org/officeDocument/2006/relationships/slide" Target="/ppt/slides/slide10.xml" Id="Rb65ca7e8723048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a43db243a4f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ALIL navy">
  <a:themeElements>
    <a:clrScheme name="DALIL navy">
      <a:dk1>
        <a:srgbClr val="1E2761"/>
      </a:dk1>
      <a:lt1>
        <a:srgbClr val="FFFFFF"/>
      </a:lt1>
      <a:dk2>
        <a:srgbClr val="3D4A66"/>
      </a:dk2>
      <a:lt2>
        <a:srgbClr val="F2F6FC"/>
      </a:lt2>
      <a:accent1>
        <a:srgbClr val="1E2761"/>
      </a:accent1>
      <a:accent2>
        <a:srgbClr val="F2994A"/>
      </a:accent2>
      <a:accent3>
        <a:srgbClr val="1FA97A"/>
      </a:accent3>
      <a:accent4>
        <a:srgbClr val="E8A33D"/>
      </a:accent4>
      <a:accent5>
        <a:srgbClr val="CADCFC"/>
      </a:accent5>
      <a:accent6>
        <a:srgbClr val="8A96B8"/>
      </a:accent6>
      <a:hlink>
        <a:srgbClr val="2F6FDB"/>
      </a:hlink>
      <a:folHlink>
        <a:srgbClr val="6B7BA8"/>
      </a:folHlink>
    </a:clrScheme>
    <a:fontScheme name="DALI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ALIL nav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2ba3c01924ba3" /><Relationship Type="http://schemas.openxmlformats.org/officeDocument/2006/relationships/notesMaster" Target="/ppt/notesMasters/notesMaster1.xml" Id="R9da6349b416e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780b26c7744e67" /><Relationship Type="http://schemas.openxmlformats.org/officeDocument/2006/relationships/notesMaster" Target="/ppt/notesMasters/notesMaster1.xml" Id="R31fc5d07fb7144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2affbac6e4a2c" /><Relationship Type="http://schemas.openxmlformats.org/officeDocument/2006/relationships/notesMaster" Target="/ppt/notesMasters/notesMaster1.xml" Id="Raed815245eab41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9a4f69fbd461e" /><Relationship Type="http://schemas.openxmlformats.org/officeDocument/2006/relationships/notesMaster" Target="/ppt/notesMasters/notesMaster1.xml" Id="Rbfe8f14ebfaa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2c5c2c6e8470d" /><Relationship Type="http://schemas.openxmlformats.org/officeDocument/2006/relationships/notesMaster" Target="/ppt/notesMasters/notesMaster1.xml" Id="Rc6ffbaf6ea04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66a6c2e8a4fd8" /><Relationship Type="http://schemas.openxmlformats.org/officeDocument/2006/relationships/notesMaster" Target="/ppt/notesMasters/notesMaster1.xml" Id="Re36f50b0a36b48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ef5f8ce02430c" /><Relationship Type="http://schemas.openxmlformats.org/officeDocument/2006/relationships/notesMaster" Target="/ppt/notesMasters/notesMaster1.xml" Id="R3f40c323b0434f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9551736a54bf0" /><Relationship Type="http://schemas.openxmlformats.org/officeDocument/2006/relationships/notesMaster" Target="/ppt/notesMasters/notesMaster1.xml" Id="Rd3a7e4df9c42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f65ebf1b54485d" /><Relationship Type="http://schemas.openxmlformats.org/officeDocument/2006/relationships/notesMaster" Target="/ppt/notesMasters/notesMaster1.xml" Id="Re2da0d48406342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330068e34e4565" /><Relationship Type="http://schemas.openxmlformats.org/officeDocument/2006/relationships/notesMaster" Target="/ppt/notesMasters/notesMaster1.xml" Id="R896ed33f5a19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0:00-0:30 hook. One-liner: analyst gets 40 alerts/day; DALIL turns one into a cited note in ~25 s on-prem.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0:30-1:15 problem. Emphasise 57% is OUR synthetic benchmark — honesty first.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walk-through, ~30 s. Point at card 4 + 6: checks and export are tonight's hardening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in 20-25 s. Stress: deterministic stages ~110 ms; only the narrative touches the LLM; zero egress by design.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1:15-2:55. Follow work/submission/defence-script.md table. Warm the LLM before your slot.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2:55-4:00 results. Never read AUC first; lead with FPR chart + 'own synthetic benchmark' caveat.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4:00-5:00 differentiator slide. The third row (semantics NOT verified) is the honesty line juries look for.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Differentiation vs the reference implementation; also covers data-licence rule of the challenge.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5:00-5:45 business. Every number here is labelled assumption-vs-measured. Pilot ask is the close.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6:30-7:00 close + ask. Then Q&amp;A from work/submission/qa-prep.md.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f3d1f1e474e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c8580156c48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aa3b3bb304f8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68EB00-F312-4106-B962-BA183F6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8A96B8"/>
                </a:solidFill>
                <a:latin typeface="Calibri"/>
                <a:ea typeface="Calibri"/>
                <a:cs typeface="Calibri"/>
              </a:rPr>
              <a:t>DALIL · WIUT Hackathon 2026 · FinTech track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1B89E9-80C5-426B-9C12-80B0930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73952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A96B8"/>
                </a:solidFill>
                <a:latin typeface="Calibri"/>
                <a:ea typeface="Calibri"/>
                <a:cs typeface="Calibri"/>
              </a:rPr>
              <a:t>synthetic demo data · live: cornbread-left-licking.ngrok-free.dev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2DEDFFA-AE19-4CA2-A0D5-5F4D7C9B8C1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5CDB0E-6E1B-4626-A219-8F5C0AB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E8CB8"/>
                </a:solidFill>
                <a:latin typeface="Calibri"/>
                <a:ea typeface="Calibri"/>
                <a:cs typeface="Calibri"/>
              </a:rPr>
              <a:t>DALIL · WIUT Hackathon 2026 · FinTech track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A5F3163-7B85-42CF-944B-14F6B3B489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e2e1697fab43eb" /><Relationship Type="http://schemas.openxmlformats.org/officeDocument/2006/relationships/slideLayout" Target="/ppt/slideLayouts/slideLayout1.xml" Id="R0dec20acd938440c" /><Relationship Type="http://schemas.openxmlformats.org/officeDocument/2006/relationships/slideLayout" Target="/ppt/slideLayouts/slideLayout2.xml" Id="Re8330f8bc34a4baa" /><Relationship Type="http://schemas.openxmlformats.org/officeDocument/2006/relationships/slideLayout" Target="/ppt/slideLayouts/slideLayout3.xml" Id="R6a762490f9004ce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ED431D8-593D-4602-8831-D2AD952C358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c20acd938440c"/>
    <p:sldLayoutId xmlns:r="http://schemas.openxmlformats.org/officeDocument/2006/relationships" id="2147483650" r:id="Re8330f8bc34a4baa"/>
    <p:sldLayoutId xmlns:r="http://schemas.openxmlformats.org/officeDocument/2006/relationships" id="2147483651" r:id="R6a762490f9004ce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ALIL navy">
  <a:themeElements>
    <a:clrScheme name="DALIL navy">
      <a:dk1>
        <a:srgbClr val="1E2761"/>
      </a:dk1>
      <a:lt1>
        <a:srgbClr val="FFFFFF"/>
      </a:lt1>
      <a:dk2>
        <a:srgbClr val="3D4A66"/>
      </a:dk2>
      <a:lt2>
        <a:srgbClr val="F2F6FC"/>
      </a:lt2>
      <a:accent1>
        <a:srgbClr val="1E2761"/>
      </a:accent1>
      <a:accent2>
        <a:srgbClr val="F2994A"/>
      </a:accent2>
      <a:accent3>
        <a:srgbClr val="1FA97A"/>
      </a:accent3>
      <a:accent4>
        <a:srgbClr val="E8A33D"/>
      </a:accent4>
      <a:accent5>
        <a:srgbClr val="CADCFC"/>
      </a:accent5>
      <a:accent6>
        <a:srgbClr val="8A96B8"/>
      </a:accent6>
      <a:hlink>
        <a:srgbClr val="2F6FDB"/>
      </a:hlink>
      <a:folHlink>
        <a:srgbClr val="6B7BA8"/>
      </a:folHlink>
    </a:clrScheme>
    <a:fontScheme name="DALI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ALIL nav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3edb9972a34dca" /><Relationship Type="http://schemas.openxmlformats.org/officeDocument/2006/relationships/notesSlide" Target="/ppt/notesSlides/notesSlide1.xml" Id="R4652383750df49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fb03813af4f0c" /><Relationship Type="http://schemas.openxmlformats.org/officeDocument/2006/relationships/notesSlide" Target="/ppt/notesSlides/notesSlide2.xml" Id="R0858a7d12bf849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f200f60e247c5" /><Relationship Type="http://schemas.openxmlformats.org/officeDocument/2006/relationships/notesSlide" Target="/ppt/notesSlides/notesSlide3.xml" Id="Rd68b0c56831644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1c4221f73488f" /><Relationship Type="http://schemas.openxmlformats.org/officeDocument/2006/relationships/notesSlide" Target="/ppt/notesSlides/notesSlide4.xml" Id="Rffc83badd006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2ecbc235a14451" /><Relationship Type="http://schemas.openxmlformats.org/officeDocument/2006/relationships/notesSlide" Target="/ppt/notesSlides/notesSlide5.xml" Id="R1064499dc99241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c5185e0e74901" /><Relationship Type="http://schemas.openxmlformats.org/officeDocument/2006/relationships/chart" Target="/ppt/slides/charts/chart1.xml" Id="Rf32ad26d51404899" /><Relationship Type="http://schemas.openxmlformats.org/officeDocument/2006/relationships/notesSlide" Target="/ppt/notesSlides/notesSlide6.xml" Id="R3ebbe8462a28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11e23a1f74217" /><Relationship Type="http://schemas.openxmlformats.org/officeDocument/2006/relationships/notesSlide" Target="/ppt/notesSlides/notesSlide7.xml" Id="R956af6cb7a2a4b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9e3008c4e4874" /><Relationship Type="http://schemas.openxmlformats.org/officeDocument/2006/relationships/notesSlide" Target="/ppt/notesSlides/notesSlide8.xml" Id="Rd65471669cde47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c3f386bbb4b00" /><Relationship Type="http://schemas.openxmlformats.org/officeDocument/2006/relationships/notesSlide" Target="/ppt/notesSlides/notesSlide9.xml" Id="R44d46573a8f347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84c042bc3f4194" /><Relationship Type="http://schemas.openxmlformats.org/officeDocument/2006/relationships/notesSlide" Target="/ppt/notesSlides/notesSlide10.xml" Id="R53ff06ae5d8c4481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../embeddings/Microsoft_Excel_Worksheet1.xlsx"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 b="0" i="0" u="none" strike="noStrik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False-positive rate @ band 50 (%) — lower is better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00" b="0" i="0" u="none" strike="noStrike">
              <a:solidFill>
                <a:srgbClr val="1E276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 xmlns:a="http://schemas.openxmlformats.org/drawingml/2006/main">
              <a:srgbClr val="F2994A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1" i="0" u="none" strike="noStrike">
                    <a:solidFill>
                      <a:srgbClr val="26324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Test split</c:v>
                </c:pt>
                <c:pt idx="1">
                  <c:v>Novel split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58.1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DALIL ensemble</c:v>
                </c:pt>
              </c:strCache>
            </c:strRef>
          </c:tx>
          <c:spPr>
            <a:solidFill xmlns:a="http://schemas.openxmlformats.org/drawingml/2006/main">
              <a:srgbClr val="1FA97A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1" i="0" u="none" strike="noStrike">
                    <a:solidFill>
                      <a:srgbClr val="26324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Test split</c:v>
                </c:pt>
                <c:pt idx="1">
                  <c:v>Novel split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0.4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 i="0" u="none" strike="noStrike">
                  <a:solidFill>
                    <a:srgbClr val="26324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 strike="noStrike">
                <a:solidFill>
                  <a:srgbClr val="3D4A66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6ECF7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 strike="noStrike">
                <a:solidFill>
                  <a:srgbClr val="3D4A66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 w="1270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3D4A66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span"/>
  </c:chart>
  <c:spPr>
    <a:noFill xmlns:a="http://schemas.openxmlformats.org/drawingml/2006/main"/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69A533-8B7F-4BE9-A13E-657F3354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772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3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PARTNER PRODUCT · FINTECH / AI IN FINANCE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1B86F0-0AA3-4785-8C70-DF8C02A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3152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DALIL</a:t>
            </a:r>
            <a:endParaRPr sz="7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F2CB0F-087A-4A34-A729-E189314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Evidence-grounded AML investigation copilot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C461BC-2F1C-4299-89AA-CC0A230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FB4E8"/>
                </a:solidFill>
                <a:latin typeface="Calibri"/>
                <a:ea typeface="Calibri"/>
                <a:cs typeface="Calibri"/>
              </a:rPr>
              <a:t>ML risk assessment · evidence-based template · optional experimental local LLM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49D50C-3D64-4C18-A8F8-EE45375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69080"/>
            <a:ext cx="137160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4B8443-411E-40F4-8B47-F7C8957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69080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SC-01..06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FDF22F-C28B-43FF-A02A-AB49559E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069080"/>
            <a:ext cx="187452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2DB6DF-D44B-43B6-AF1E-A418EC67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06908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[E1] -&gt; evidence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16D2FCD-3837-4008-8334-7F0A690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069080"/>
            <a:ext cx="173736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B42F1F9-4C81-4C51-86DD-BD78B371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069080"/>
            <a:ext cx="1737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sha256 verify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AF46DE6-4496-4EE6-8DD7-5B37C23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192024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DC3785-4FCE-4D48-8806-C10E2B11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6908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TEMPLATE MODE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2E33B8A-75AF-4E90-BC66-9734D3B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FB4E8"/>
                </a:solidFill>
                <a:latin typeface="Calibri"/>
                <a:ea typeface="Calibri"/>
                <a:cs typeface="Calibri"/>
              </a:rPr>
              <a:t>Live demo:  </a:t>
            </a: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https://cornbread-left-licking.ngrok-free.dev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0AC8F03-3108-404C-B143-C8B130B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68112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E8CB8"/>
                </a:solidFill>
                <a:latin typeface="Calibri"/>
                <a:ea typeface="Calibri"/>
                <a:cs typeface="Calibri"/>
              </a:rPr>
              <a:t>Proposed owner: MKBANK FCC alert-investigation desk · partnership not confirmed</a:t>
            </a:r>
            <a:endParaRPr sz="1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8CF138-1825-491D-BABC-71AC436EB6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26325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ED23B7-C656-44B3-9002-281A08E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problem: alerts nobody has time to read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127A1-5BB1-4231-A710-1D748877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94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40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877A3A-445F-49EE-9875-76199262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394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alerts per analyst a day (assumption)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8BD113-A1CF-40C8-B6BD-750091B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5394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30-40 min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1F7771-ECC8-4F8E-A408-12820020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394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per alert (assumption, not measured)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D919E0-6E00-4F1C-87AE-9C00AD7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3949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2994A"/>
                </a:solidFill>
                <a:latin typeface="Cambria"/>
                <a:ea typeface="Cambria"/>
                <a:cs typeface="Cambria"/>
              </a:rPr>
              <a:t>57%</a:t>
            </a:r>
            <a:endParaRPr sz="4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D7D9785-73A7-4AD3-823D-72DF8DDE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5394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false positives — rules-only layer on our own synthetic benchmark*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2ACEA62-413A-4EB0-8D2E-F72A2B7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21208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2FA50C-5346-48AB-A0CE-CF6E3B33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64592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not just call a cloud LLM?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4F1ED4E-0634-4CDD-B1EA-A831889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94560"/>
            <a:ext cx="46634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Production constraint: customer data stays inside the bank</a:t>
            </a:r>
            <a:endParaRPr sz="14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Analysts need transaction-level evidence for their conclusions</a:t>
            </a:r>
            <a:endParaRPr sz="14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An LLM citation alone does not establish that a claim is true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95EE029-516A-43C7-8B79-34243E7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572000"/>
            <a:ext cx="4663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Rules don't just drown analysts — they still miss 20.9% of novel laundering variants (our synthetic novel split).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8F72C2-9850-485D-B2C2-3201286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97880"/>
            <a:ext cx="11064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A96B8"/>
                </a:solidFill>
                <a:latin typeface="Calibri"/>
                <a:ea typeface="Calibri"/>
                <a:cs typeface="Calibri"/>
              </a:rPr>
              <a:t>* measured on our held-out synthetic test set (novel split: 58.1%) — a baseline for the pain, not a bank statistic.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66E39EE-C958-4304-AB63-121AA2C0053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17878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B76F08-5CBD-4489-94C9-AC5B2CD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DALIL: one screen from alert to decision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F10EF8-98BA-45C5-A99C-2FDE9A9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CA1697-F1D7-4857-B7F1-C503A15E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780CFA-2CB0-4F3D-AEAC-6ACBC52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527B7A-6DB3-41CA-AAAD-6E585877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655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0-100 score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08E688-872F-4112-8E67-B108ECE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Calibrated GBM (70%) + transparent scenario rules (30%), banded low / medium / high / critical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5B54AF-98CF-4A38-8E45-6866D8DB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10" y="1417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C48B0B8-AA0F-4430-8886-AE2F156C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1645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AEE9BF-579D-4F0E-971E-C560870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1645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56C871-59A2-4600-9E25-6BD5DD9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830" y="1655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Typology hits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E2B3F9-2224-4B3F-A4CF-A859888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2194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SC-01 structuring .. SC-06 turnover mismatch — each hit linked to its transactions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CD7125E-1047-47E0-AB9B-CC813A99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1417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9EE1410-6AC9-4701-8BB1-5A1A7EF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1645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5861C0-747C-45EF-8303-C02109A5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1645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5613CD1-73B8-4EEF-AA8A-81F0C5F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415" y="1655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Evidence note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4F7B69-18AF-4C0A-8AF8-30897E19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2194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Template note built only from evidence [E#]; optional experimental local-LLM draft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BF3F68D-09A7-487B-BB8C-657AA3DA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E147D4E-55F5-45AE-B57D-E437394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6BD7CFA-05B5-4265-B58A-A11D25F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51E3478-FC61-43E9-B82C-D3174D4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41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Machine checks</a:t>
            </a:r>
            <a:endParaRPr sz="1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0354B28-1CAE-4219-9C68-61DF567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[E#] exists · numbers &amp; dates match cited evidence · meaning not checked — warnings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812F2E0-692E-4F5A-8228-D0578AED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10" y="3703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90600F5-459F-404A-A17C-F9D0E316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3931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45A7463-CCA4-426B-99AF-D610A92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3931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295276-77E7-4D3E-85F5-032CC5CB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830" y="3941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Attribution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95B1005-87E2-41BE-8774-3884887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910" y="4480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Leave-one-out: which features moved the score, with sign and magnitude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713EF58-56CC-4498-951C-6A566E4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3703320"/>
            <a:ext cx="356616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5328FDF-E673-4B62-B139-65E71A1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3931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C1FC169-F66C-4E50-ACE3-82127F1C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3931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1D7EE2-C662-45F1-8EF2-9570EFCF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415" y="3941064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Audit + export</a:t>
            </a:r>
            <a:endParaRPr sz="16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6F66E4D-3016-4DE9-962E-64D15527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95" y="448056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Decision bound to analysis_id + input hash; server-built package, per-section SHA-256</a:t>
            </a:r>
            <a:endParaRPr sz="125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8505F1D-5305-41D3-B88F-D166FB39F34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256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11FAD3-CCC1-4E85-812D-E5D7B76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host, local inference — no external AI API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6E0C3B-F19F-4733-B11B-83B8D77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11201400" cy="4572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9050">
            <a:solidFill>
              <a:srgbClr val="1E2761"/>
            </a:solidFill>
            <a:prstDash val="dash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5EFDC-8EDC-44B6-9698-C2A5E179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single host (demo: laptop)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D87BCD-77CD-4293-9BED-EDB3ABB9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7E0D27-9392-49A9-ADA7-4086E8C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CSV / alert queue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5131ED-5E3A-4825-80F2-DD962C16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jury input or demo case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40426A-9FE8-4863-ABE9-A8CB010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21488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B23A4B-6E7D-4D75-9514-6BF47D57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596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D1AB4D-1AA1-4324-8E97-4565CAD8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748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Ingest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2D76FF-6F88-4E15-9BC6-CD39B433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strict: bad rows rejected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DCC4E08-EFB5-4902-8A08-171C4FEF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72" y="21488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F7299F0-4045-4716-A548-CFE803C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4A576F-6009-4188-B9BE-26DFD02E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Entity resolution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EE9309-D52C-4121-B322-FA6D8EE6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ambiguity-guarded merges</a:t>
            </a:r>
            <a:endParaRPr sz="9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448E9D0-DCDA-4727-8E23-06C6471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488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FA68847-E75E-470E-81AF-9D59DF2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188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32D687-2FDA-48D9-8DCB-8B1ED90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340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49 features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D0A52D1-D0A0-4BF5-A4BC-5B691F6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052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analyst-readable names</a:t>
            </a:r>
            <a:endParaRPr sz="9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27BB0CA-EA92-4B31-8C62-2C685706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964" y="21488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D63CF0D-E4BB-403F-97BD-B516C478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C45AF85-26E2-45F2-93CD-4DF0C9D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SC-01..06 + GBM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04247D9-15EC-439D-8210-6EEE84F2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rules 30% · model 70%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3DCF308-8AFA-4A2D-8F3E-A2E665E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C6877C8-32C7-4757-8047-EC88A1A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1691640"/>
            <a:ext cx="1627632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773925-076E-430C-AFCE-ADC3D9F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932" y="178308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Ensemble score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ED33AA-99A8-420E-8C88-BBE54BD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644" y="2157984"/>
            <a:ext cx="1517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band 0-100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62C46E8-A2B8-4432-BEFD-9DC19CC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002536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7C16AC0-6A45-4FEB-B1B9-2C92A3F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54680"/>
            <a:ext cx="18562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Evidence pack</a:t>
            </a:r>
            <a:endParaRPr sz="11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2F49CCF-22C3-474C-8307-B8B3C31A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29584"/>
            <a:ext cx="1892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E1..En from features + txs</a:t>
            </a:r>
            <a:endParaRPr sz="9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C4F9776-55FC-4D22-95F5-D6B4E73F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5204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63151C3-3A2E-4651-91B8-CA393E4E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757" y="3063240"/>
            <a:ext cx="2002536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9C3E049-0445-4DE1-9F94-6067078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09" y="3154680"/>
            <a:ext cx="18562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llama.cpp :8081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8A4DCA-4774-42F7-B636-B767AA1C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621" y="3529584"/>
            <a:ext cx="1892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optional experimental draft</a:t>
            </a:r>
            <a:endParaRPr sz="9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78440CC-24E2-4B08-AE0D-45DD7FB8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437" y="35204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3B76BC3-79DE-4908-9BCE-A66F6B1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714" y="3063240"/>
            <a:ext cx="2002536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4655C6C-F1EF-4E77-85E4-3D071D3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66" y="3154680"/>
            <a:ext cx="18562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Note checks</a:t>
            </a:r>
            <a:endParaRPr sz="11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FD2CFEF-9246-440E-A588-E41A979D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578" y="3529584"/>
            <a:ext cx="1892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IDs · numbers · dates (warn)</a:t>
            </a:r>
            <a:endParaRPr sz="9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AA7EF72-5020-49C5-AA42-403EB03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394" y="35204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AAE7984-1B57-46CF-913A-F577581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70" y="3063240"/>
            <a:ext cx="2002536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47FB7B6-64C4-49A9-881D-6160F32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822" y="3154680"/>
            <a:ext cx="18562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Decision log</a:t>
            </a:r>
            <a:endParaRPr sz="11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3AD88C1-0E6F-4A2A-BAFA-97893EBC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534" y="3529584"/>
            <a:ext cx="1892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analysis_id + hashes</a:t>
            </a:r>
            <a:endParaRPr sz="9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C14ACF4-AB84-4E24-A028-A79E0C7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50" y="352044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A0969672-CDFE-472C-9245-D85C143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627" y="3063240"/>
            <a:ext cx="2002536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892479C-97DB-438B-850F-A321605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779" y="3154680"/>
            <a:ext cx="18562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Export bundle</a:t>
            </a:r>
            <a:endParaRPr sz="11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492F3A25-5055-427E-9C65-C42C163A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91" y="3529584"/>
            <a:ext cx="1892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canonical JSON + sha-256</a:t>
            </a:r>
            <a:endParaRPr sz="9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B25E1B5-489E-451B-858F-0CDC6748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69848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7D4E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F07823C-AF00-42D3-BB16-6151A3EB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26280"/>
            <a:ext cx="10332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SSE stage stream  </a:t>
            </a: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-&gt; React SPA: queue / investigate / system — stages stream live while the pipeline runs</a:t>
            </a:r>
            <a:endParaRPr sz="12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3E020358-7E85-41C5-AA2B-1228EEAF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A96B8"/>
                </a:solidFill>
                <a:latin typeface="Calibri"/>
                <a:ea typeface="Calibri"/>
                <a:cs typeface="Calibri"/>
              </a:rPr>
              <a:t>No external AI API · outbound traffic not audited · the ngrok demo runs on the presenter's laptop with synthetic data — a bank rollout needs its own deployment, security review and model-risk validation.</a:t>
            </a:r>
            <a:endParaRPr sz="105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EFC64DE-9300-461C-89ED-5EEAF78A09C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38695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612139-B9BB-42BC-A132-2D96E3B3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LIVE DEMO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01EF640-AB27-4BF7-BAB1-41CDEB1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100 seconds — real UI, real pipeline, no edits</a:t>
            </a:r>
            <a:endParaRPr sz="1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81C2D38-0145-4DAE-9DEF-441C9A64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58BB9-F1E7-4969-AC1A-A58658D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F71F68-7523-4006-9AED-9030361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9384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New CSV -&gt; load template (12 synthetic txs, no customer metadata) -&gt; Run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4208107-1D7A-4AB9-86C2-1C0C765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919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47E46C-9355-4FEC-A1F5-030E7CC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919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EA939A-61AD-4F74-8DE9-4F5C4039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42616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 83 critical · SC-01 hit · SC-03/SC-06 NOT EVALUATED · PROVISIONAL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F0AF07C-C8C7-43D7-A372-8A71745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9242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6C1980-AD7F-4946-ABA0-6F2A6AF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9242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77A85D-4CB0-41D7-A87E-CB4938C0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55848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Click a citation [E#] -&gt; source transaction highlighted and scrolled into view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E8A8A32-3E5B-4439-ADE0-4EC5DF71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0565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B4F169-1BC7-425D-8BB7-FD38642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056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FDFB61-0C26-444A-9834-37F60642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69080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Separate checks: IDs exist / numbers &amp; dates match / meaning NOT machine-verified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4515A87-1E41-4E49-B02E-6CF90B9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C72A5E-5590-4E02-BA2A-C36DB31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EF3590-A942-49EB-B3CA-8B504DC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 + justification -&gt; Escalate -&gt; reload (from server) -&gt; Export: integrity + server match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783018F-8B6F-4F96-8A82-B4BF1964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06440"/>
            <a:ext cx="310896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13FCE2-9EA7-4A42-AEC4-E10BD2C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06440"/>
            <a:ext cx="3108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tunnel down -&gt; localhost:8002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C2C129C-4B72-4A68-B0AA-2FDAD9E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06440"/>
            <a:ext cx="320040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01F63C6-A26E-47F6-B2D8-74D35B4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0644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LLM down -&gt; template note only</a:t>
            </a:r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62AAA2A-CBAC-4CCD-B951-2E1C0BD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06440"/>
            <a:ext cx="374904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5B6BA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6A2275-D579-4E15-AA27-20C8EEA0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06440"/>
            <a:ext cx="3749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edited file -&gt; scripts/verify_export.py (CLI)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DBC10A2-3205-4BA8-B68B-3C87F7223B5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9182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C5EC8E-F117-4080-95BF-A515687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Honest numbers — synthetic, held-out, reproducible</a:t>
            </a:r>
            <a:endParaRPr sz="3000"/>
          </a:p>
        </p:txBody>
      </p:sp>
      <p:graphicFrame>
        <p:nvGraphicFramePr>
          <p:cNvPr id="3" name="Chart 0">
            <a:extLst xmlns:a="http://schemas.openxmlformats.org/drawingml/2006/main">
              <a:ext uri="{FF2B5EF4-FFF2-40B4-BE49-F238E27FC236}">
                <a16:creationId xmlns:a16="http://schemas.microsoft.com/office/drawing/2014/main" id="{EF001FDF-2DF1-496B-A41D-D22683786131}"/>
              </a:ext>
            </a:extLst>
          </p:cNvPr>
          <p:cNvGraphicFramePr/>
          <p:nvPr/>
        </p:nvGraphicFramePr>
        <p:xfrm>
          <a:off xmlns:a="http://schemas.openxmlformats.org/drawingml/2006/main" x="548640" y="1371600"/>
          <a:ext xmlns:a="http://schemas.openxmlformats.org/drawingml/2006/main" cx="580644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2ad26d51404899"/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771A10-3E2E-4098-A1C8-68572BFF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99.2%</a:t>
            </a:r>
            <a:endParaRPr sz="2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520D87F-DD39-4C44-9024-E958EEA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56232"/>
            <a:ext cx="4983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ensemble recall @ novel split, with 0.4% FPR — held-out synthetic variants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6D8115F-0894-41DF-B678-D6838100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6312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96.4%</a:t>
            </a:r>
            <a:endParaRPr sz="2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235BDE-6B1D-490E-BD70-47B24BE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5224"/>
            <a:ext cx="4983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precision @ 10% ASSUMED prevalence (novel) — a planning assumption, not bank data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6265FBC-57A1-4516-BD8E-E0427A0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75304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0/20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449D2C6-17BF-4FB3-BF9D-4CC63F3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4216"/>
            <a:ext cx="4983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Historical LLM drafts, before DEMO labels: zero check issues; numeric consistency 20%; meaning not measured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95E2D8-B59B-4AAE-B2E2-17D2989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4296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189 ms / 19 s</a:t>
            </a:r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50093F4-8ED2-464A-BE15-33E77196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93208"/>
            <a:ext cx="4983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Historical p50 before DEMO labels: pipeline / LLM draft, 4 CPU threads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22963D5-2A30-4EF3-BCBE-EF106CB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8A96B8"/>
                </a:solidFill>
                <a:latin typeface="Calibri"/>
                <a:ea typeface="Calibri"/>
                <a:cs typeface="Calibri"/>
              </a:rPr>
              <a:t>ROC-AUC 0.9945 / 0.9937 (test / novel) is optimistic because the data is synthetic. Failure list (5 FPs, 1 FN) ships in the UI. Full report: eval/results/eval_report.json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52150CA-5004-4416-8856-0048173435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646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54C374-7D9D-4D19-81F6-93CC0EDB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is checked — and what is not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C08C82-CEC0-4B24-818B-CFD6B3C8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97A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C6D53D-E2F8-4255-832F-8A641E6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F9C396-9670-4976-A823-E0C8178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44752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Citations exist in the evidence pack</a:t>
            </a:r>
            <a:endParaRPr sz="16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71636F6-2161-495C-86AB-697268C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47088"/>
            <a:ext cx="6035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Every [E#] must resolve to a real evidence id; a note with zero citations is reported as 0, not 'N/A'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437213E-AA5F-41A2-BD89-C32B4A7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97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D4B118-93F7-449B-B045-9407BBF0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6C6175-A20D-4917-B3FC-C83E7C21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862072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Numbers &amp; dates match cited evidence</a:t>
            </a:r>
            <a:endParaRPr sz="16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993E9D3-9D56-41A4-9E24-64594B97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64408"/>
            <a:ext cx="6035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Amounts (incl. 'mln'), counts and dates must match the evidence cited in that sentence — else flagged. Warnings, not a block.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17C23A8-1083-4FEA-A29D-CD670E98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02BB6B-2AB6-41B8-963E-28E7DFA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✕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CC3B42-CCD5-4D6C-9D5E-DFEA0F55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79392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Semantics NOT machine-verified</a:t>
            </a:r>
            <a:endParaRPr sz="16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6C778C-E513-40D2-A3F6-15ACB3D2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81728"/>
            <a:ext cx="6035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A valid citation does not make a claim true — the analyst reviews meaning; the LLM draft is experimental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DB9E356-F8E6-4631-B1A4-B746C23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4069080" cy="4526280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CCEE99-6A43-4DED-8913-7BBA4EF9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64592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Verifiable export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4DAC560-F28A-4E0B-B7D2-E96EA35D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103120"/>
            <a:ext cx="356616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50" b="1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One JSON package:</a:t>
            </a:r>
            <a:endParaRPr sz="125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input + SHA-256 · analysis_id · model/ruleset ids · results · evidence · note + LLM draft · decision</a:t>
            </a:r>
            <a:endParaRPr sz="125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5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Built by the server from its own record; integrity (hashes) and server match are checked separately.</a:t>
            </a:r>
            <a:endParaRPr sz="125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5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Limits printed inside the file: a hash is NOT a signature; an attacker holding the whole package can rewrite content and hashes together; LLM text is not bit-reproducible.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C475C8B-1025-4FD7-936E-CD8491BA2F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08537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E1C8CF-920D-4CA4-BBEF-E1596F8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Local fit and validation limits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6E427E-EC9F-425F-AC54-5E0FC370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94960" cy="448056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6167BC-159E-441F-99CD-3ED25A76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ships in the repo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986A44-1237-4828-B975-E277256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8463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Synthetic casebook: 3 080 cases, CC0, generator + DATA_CARD committed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Code: MIT · model: Qwen2.5-1.5B (Apache-2.0) · llama.cpp (MIT)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Ground-truth labels exist only offline — the API strips them from /api/queue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91 pytest tests + browser E2E: strict input, RU/UZ ambiguity, LLM down/truncated, decision binding, forged results, export tamper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423441-B4E7-4F4F-A6B8-1529B27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94960" cy="4480560"/>
          </a:xfrm>
          <a:prstGeom xmlns:a="http://schemas.openxmlformats.org/drawingml/2006/main" prst="roundRect">
            <a:avLst>
              <a:gd name="adj" fmla="val 1224"/>
            </a:avLst>
          </a:prstGeom>
          <a:solidFill xmlns:a="http://schemas.openxmlformats.org/drawingml/2006/main">
            <a:srgbClr val="FFF6EC"/>
          </a:solidFill>
          <a:ln xmlns:a="http://schemas.openxmlformats.org/drawingml/2006/main" w="12700">
            <a:solidFill>
              <a:srgbClr val="F0D9B8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693EF7-2035-4951-9D20-BF57D6DA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459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8A5A1B"/>
                </a:solidFill>
                <a:latin typeface="Cambria"/>
                <a:ea typeface="Cambria"/>
                <a:cs typeface="Cambria"/>
              </a:rPr>
              <a:t>Differentiation to validate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42A8FE5-C5CC-426D-81CA-C6FA560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8463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6B4A17"/>
                </a:solidFill>
                <a:latin typeface="Calibri"/>
                <a:ea typeface="Calibri"/>
                <a:cs typeface="Calibri"/>
              </a:rPr>
              <a:t>UZS amount validation and RU/UZ name handling in one review workflow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6B4A17"/>
                </a:solidFill>
                <a:latin typeface="Calibri"/>
                <a:ea typeface="Calibri"/>
                <a:cs typeface="Calibri"/>
              </a:rPr>
              <a:t>Local inference, linked transaction evidence and server-bound decisions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6B4A17"/>
                </a:solidFill>
                <a:latin typeface="Calibri"/>
                <a:ea typeface="Calibri"/>
                <a:cs typeface="Calibri"/>
              </a:rPr>
              <a:t>Existing AML suites also manage cases; our small prototype has no proven barrier to copying</a:t>
            </a:r>
            <a:endParaRPr sz="13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6B4A17"/>
                </a:solidFill>
                <a:latin typeface="Calibri"/>
                <a:ea typeface="Calibri"/>
                <a:cs typeface="Calibri"/>
              </a:rPr>
              <a:t>Next evidence: analyst task-time study and an independent bank holdout; no confirmed partnership</a:t>
            </a:r>
            <a:endParaRPr sz="13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05CBAE2-ACDD-4E2D-B764-BB11C076CDD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1267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18758B-9021-48FE-BD47-49FFB96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Pilot budget and payback: illustrative assumptions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BB4B0D8-D9CB-4576-B1A1-D2585F9C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76072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BF8BCE-F941-47B2-81C2-45184A3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81912"/>
            <a:ext cx="1920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$6,000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F1089F-BAB4-4155-84A8-636892C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81912"/>
            <a:ext cx="33832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One-off pilot: labour 200 h x $25 = $5,000; infrastructure $200; data review $500; reserve $300.</a:t>
            </a:r>
            <a:endParaRPr sz="12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76FF92D-32BB-4E8C-81D6-2E368953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53512"/>
            <a:ext cx="576072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9FC194-0C18-423A-B845-14F20DA6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18104"/>
            <a:ext cx="1920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2994A"/>
                </a:solidFill>
                <a:latin typeface="Cambria"/>
                <a:ea typeface="Cambria"/>
                <a:cs typeface="Cambria"/>
              </a:rPr>
              <a:t>$2,000 / mo</a:t>
            </a:r>
            <a:endParaRPr sz="2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1B47F48-0591-47EA-B1E5-359597C2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18104"/>
            <a:ext cx="33832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Modelled net benefit: 4,000 alerts x 5 min / 60 x $15/h x 50% realised = $2,500; less $500/month operations.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EF6A81F-FAB6-41C3-9461-A95732F3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9704"/>
            <a:ext cx="576072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12700">
            <a:solidFill>
              <a:srgbClr val="DCE6F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2D6142-2FDA-4C69-B8E4-7553924C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54296"/>
            <a:ext cx="1920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 months</a:t>
            </a:r>
            <a:endParaRPr sz="2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FBFC4AA-A7EE-4473-9F6A-F8DC40D2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54296"/>
            <a:ext cx="33832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D4A66"/>
                </a:solidFill>
                <a:latin typeface="Calibri"/>
                <a:ea typeface="Calibri"/>
                <a:cs typeface="Calibri"/>
              </a:rPr>
              <a:t>Simple payback after rollout: $6,000 / $2,000. At 2,000 alerts/month: $750 net, 8 months. No measured savings.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01A0062-2E07-48F8-B209-C667C9D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17320"/>
            <a:ext cx="4983480" cy="452628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12700">
            <a:solidFill>
              <a:srgbClr val="CBE5D8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E2761">
                <a:alpha val="14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C023B9-E361-49D3-939D-8926A1C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603F"/>
                </a:solidFill>
                <a:latin typeface="Cambria"/>
                <a:ea typeface="Cambria"/>
                <a:cs typeface="Cambria"/>
              </a:rPr>
              <a:t>Proposed 4-week workflow pilot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EBA1CE0-530C-4B33-82A3-9F7CA0A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448056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24473A"/>
                </a:solidFill>
                <a:latin typeface="Calibri"/>
                <a:ea typeface="Calibri"/>
                <a:cs typeface="Calibri"/>
              </a:rPr>
              <a:t>Start with 50 authorised cases inside the bank; no real customer data in this demo</a:t>
            </a:r>
            <a:endParaRPr sz="13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24473A"/>
                </a:solidFill>
                <a:latin typeface="Calibri"/>
                <a:ea typeface="Calibri"/>
                <a:cs typeface="Calibri"/>
              </a:rPr>
              <a:t>Measure review time, corrections and missed evidence; this sample cannot establish a low FPR</a:t>
            </a:r>
            <a:endParaRPr sz="1350"/>
          </a:p>
          <a:p xmlns:a="http://schemas.openxmlformats.org/drawingml/2006/main">
            <a:pPr marL="685800" lvl="1" indent="-342900"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24473A"/>
                </a:solidFill>
                <a:latin typeface="Calibri"/>
                <a:ea typeface="Calibri"/>
                <a:cs typeface="Calibri"/>
              </a:rPr>
              <a:t>Use a larger independent holdout for detection quality and recalibration</a:t>
            </a:r>
            <a:endParaRPr sz="1350"/>
          </a:p>
          <a:p xmlns:a="http://schemas.openxmlformats.org/drawingml/2006/main">
            <a:pPr marL="685800" lvl="1" indent="-342900"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24473A"/>
                </a:solidFill>
                <a:latin typeface="Calibri"/>
                <a:ea typeface="Calibri"/>
                <a:cs typeface="Calibri"/>
              </a:rPr>
              <a:t>Budget and payback are assumptions, not a quote or bank agreement; security, data mapping and model validation remain required</a:t>
            </a:r>
            <a:endParaRPr sz="13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1066E0-855B-4B40-A376-2E670CFADF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6552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4EB657-7595-43FF-9E7C-9F4CB8B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analyst stays in the loop.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C279A7-005D-436F-AF5B-06FEB12C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No external AI API. Synthetic demo data.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C89A4AF-E432-45F7-A153-A7D7121C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83280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FB4E8"/>
                </a:solidFill>
                <a:latin typeface="Calibri"/>
                <a:ea typeface="Calibri"/>
                <a:cs typeface="Calibri"/>
              </a:rPr>
              <a:t>Live:  </a:t>
            </a: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https://cornbread-left-licking.ngrok-free.dev</a:t>
            </a:r>
            <a:r>
              <a:rPr sz="1500">
                <a:solidFill>
                  <a:srgbClr val="9FB4E8"/>
                </a:solidFill>
                <a:latin typeface="Calibri"/>
                <a:ea typeface="Calibri"/>
                <a:cs typeface="Calibri"/>
              </a:rPr>
              <a:t>     Repo:  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github.com/funstorm15/dalil · README + eval report + 91 tests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9DEDF9-3B57-4369-9A75-3940FDE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76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Thank you — questions?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8067A7-AEAC-444C-9F11-4AC856B7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7E8CB8"/>
                </a:solidFill>
                <a:latin typeface="Calibri"/>
                <a:ea typeface="Calibri"/>
                <a:cs typeface="Calibri"/>
              </a:rPr>
              <a:t>synthetic demo · MKBANK: proposed pilot, not a confirmed partnership · metrics are our own benchmark — see README §5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767BDF-2525-4BE8-B633-B770881CD04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8982278"/>
      </p:ext>
    </p:extLst>
  </p:cSld>
</p:sld>
</file>

<file path=ppt/theme/theme1.xml><?xml version="1.0" encoding="utf-8"?>
<a:theme xmlns:a="http://schemas.openxmlformats.org/drawingml/2006/main" name="DALIL navy">
  <a:themeElements>
    <a:clrScheme name="DALIL navy">
      <a:dk1>
        <a:srgbClr val="1E2761"/>
      </a:dk1>
      <a:lt1>
        <a:srgbClr val="FFFFFF"/>
      </a:lt1>
      <a:dk2>
        <a:srgbClr val="3D4A66"/>
      </a:dk2>
      <a:lt2>
        <a:srgbClr val="F2F6FC"/>
      </a:lt2>
      <a:accent1>
        <a:srgbClr val="1E2761"/>
      </a:accent1>
      <a:accent2>
        <a:srgbClr val="F2994A"/>
      </a:accent2>
      <a:accent3>
        <a:srgbClr val="1FA97A"/>
      </a:accent3>
      <a:accent4>
        <a:srgbClr val="E8A33D"/>
      </a:accent4>
      <a:accent5>
        <a:srgbClr val="CADCFC"/>
      </a:accent5>
      <a:accent6>
        <a:srgbClr val="8A96B8"/>
      </a:accent6>
      <a:hlink>
        <a:srgbClr val="2F6FDB"/>
      </a:hlink>
      <a:folHlink>
        <a:srgbClr val="6B7BA8"/>
      </a:folHlink>
    </a:clrScheme>
    <a:fontScheme name="DALI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ALIL nav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2026-10-11T04:22:28.0520000Z</dcterms:created>
  <dcterms:modified xsi:type="dcterms:W3CDTF">2026-10-11T04:22:28.0520000Z</dcterms:modified>
</coreProperties>
</file>